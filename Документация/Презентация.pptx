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6858000" cy="9144000"/>
  <p:embeddedFontLst>
    <p:embeddedFont>
      <p:font typeface="Alata" panose="020B0604020202020204" charset="0"/>
      <p:regular r:id="rId12"/>
    </p:embeddedFont>
    <p:embeddedFont>
      <p:font typeface="Anton" pitchFamily="2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f931fea1c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2ef931fea1c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f931fea1c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ef931fea1c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2ef931fea1c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931fea1c_1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2ef931fea1c_1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f931fea1c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2ef931fea1c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f931fea1c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2ef931fea1c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f931fea1c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2ef931fea1c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f931fea1c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ef931fea1c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f931fea1c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2ef931fea1c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8693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958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 sz="28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>
            <a:spLocks noGrp="1"/>
          </p:cNvSpPr>
          <p:nvPr>
            <p:ph type="pic" idx="2"/>
          </p:nvPr>
        </p:nvSpPr>
        <p:spPr>
          <a:xfrm>
            <a:off x="656688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>
            <a:spLocks noGrp="1"/>
          </p:cNvSpPr>
          <p:nvPr>
            <p:ph type="pic" idx="3"/>
          </p:nvPr>
        </p:nvSpPr>
        <p:spPr>
          <a:xfrm>
            <a:off x="6796213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>
            <a:spLocks noGrp="1"/>
          </p:cNvSpPr>
          <p:nvPr>
            <p:ph type="pic" idx="4"/>
          </p:nvPr>
        </p:nvSpPr>
        <p:spPr>
          <a:xfrm>
            <a:off x="2703196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6"/>
          <p:cNvSpPr>
            <a:spLocks noGrp="1"/>
          </p:cNvSpPr>
          <p:nvPr>
            <p:ph type="pic" idx="5"/>
          </p:nvPr>
        </p:nvSpPr>
        <p:spPr>
          <a:xfrm>
            <a:off x="4749704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4106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3814650" y="1349025"/>
            <a:ext cx="4657800" cy="281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nton"/>
              <a:buChar char="●"/>
              <a:defRPr sz="1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Char char="○"/>
              <a:defRPr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/>
        </p:nvSpPr>
        <p:spPr>
          <a:xfrm>
            <a:off x="370609" y="1451443"/>
            <a:ext cx="8402781" cy="224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None/>
            </a:pPr>
            <a:r>
              <a:rPr lang="ru-RU" sz="2400" dirty="0"/>
              <a:t>Отчет по учебной практике </a:t>
            </a:r>
            <a:br>
              <a:rPr lang="ru-RU" sz="2400" dirty="0"/>
            </a:br>
            <a:r>
              <a:rPr lang="ru-RU" sz="2400" dirty="0">
                <a:effectLst/>
                <a:latin typeface="+mj-lt"/>
                <a:ea typeface="Times New Roman" panose="02020603050405020304" pitchFamily="18" charset="0"/>
              </a:rPr>
              <a:t>ПМ.11. РАЗРАБОТКА, АДМИНИСТРИРОВАНИЕ И ЗАЩИТА БАЗ ДАННЫХ </a:t>
            </a:r>
          </a:p>
          <a:p>
            <a:pPr algn="ctr"/>
            <a:r>
              <a:rPr lang="ru-RU" sz="2400" dirty="0">
                <a:effectLst/>
                <a:latin typeface="+mj-lt"/>
                <a:ea typeface="Times New Roman" panose="02020603050405020304" pitchFamily="18" charset="0"/>
              </a:rPr>
              <a:t>ТЕМА: «РАЗРАБОТКА БАЗЫ ДАННЫХ ДЛЯ УЧЕТА КНИГ В БИБЛИОТЕКЕ»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</p:txBody>
      </p:sp>
      <p:sp>
        <p:nvSpPr>
          <p:cNvPr id="53" name="Google Shape;53;p11"/>
          <p:cNvSpPr txBox="1"/>
          <p:nvPr/>
        </p:nvSpPr>
        <p:spPr>
          <a:xfrm>
            <a:off x="514350" y="3603521"/>
            <a:ext cx="3053196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ru-RU" sz="1100" dirty="0"/>
              <a:t>Студент Беляев Данил Игоревич</a:t>
            </a:r>
          </a:p>
          <a:p>
            <a:pPr algn="l"/>
            <a:r>
              <a:rPr lang="ru-RU" sz="1100" dirty="0"/>
              <a:t>группа 22П-1</a:t>
            </a:r>
          </a:p>
          <a:p>
            <a:pPr algn="l"/>
            <a:r>
              <a:rPr lang="ru-RU" sz="1100" dirty="0"/>
              <a:t>Специальность 09.02.07 Информационные системы и программирование</a:t>
            </a:r>
          </a:p>
          <a:p>
            <a:pPr algn="just"/>
            <a:r>
              <a:rPr lang="ru-RU" sz="1100" dirty="0"/>
              <a:t>Руководитель практики от колледжа</a:t>
            </a:r>
          </a:p>
          <a:p>
            <a:pPr algn="just"/>
            <a:r>
              <a:rPr lang="ru-RU" sz="1100" dirty="0">
                <a:latin typeface="DeepSeek-CJK-patch"/>
              </a:rPr>
              <a:t>Махнев Александр Анатольевич</a:t>
            </a:r>
          </a:p>
          <a:p>
            <a:pPr algn="just"/>
            <a:r>
              <a:rPr lang="ru-RU" sz="1100" dirty="0">
                <a:latin typeface="DeepSeek-CJK-patch"/>
              </a:rPr>
              <a:t>25.05.2025</a:t>
            </a:r>
          </a:p>
        </p:txBody>
      </p:sp>
      <p:cxnSp>
        <p:nvCxnSpPr>
          <p:cNvPr id="55" name="Google Shape;55;p11"/>
          <p:cNvCxnSpPr/>
          <p:nvPr/>
        </p:nvCxnSpPr>
        <p:spPr>
          <a:xfrm>
            <a:off x="8135185" y="4699925"/>
            <a:ext cx="49446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95632B9-D321-ACB6-5465-1AF9817CFF57}"/>
              </a:ext>
            </a:extLst>
          </p:cNvPr>
          <p:cNvSpPr txBox="1"/>
          <p:nvPr/>
        </p:nvSpPr>
        <p:spPr>
          <a:xfrm>
            <a:off x="832103" y="443574"/>
            <a:ext cx="7479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cap="all" dirty="0"/>
              <a:t>Министерство образования Кировской области</a:t>
            </a:r>
          </a:p>
          <a:p>
            <a:pPr algn="ctr"/>
            <a:r>
              <a:rPr lang="ru-RU" dirty="0"/>
              <a:t>Кировское областное государственное профессиональное бюджетное учреждение </a:t>
            </a:r>
          </a:p>
          <a:p>
            <a:pPr algn="ctr"/>
            <a:r>
              <a:rPr lang="ru-RU" dirty="0"/>
              <a:t>«Слободской колледж педагогики и социальных отношений»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85B23-26E5-1BAE-23C4-9FC26EE1549A}"/>
              </a:ext>
            </a:extLst>
          </p:cNvPr>
          <p:cNvSpPr txBox="1"/>
          <p:nvPr/>
        </p:nvSpPr>
        <p:spPr>
          <a:xfrm>
            <a:off x="581891" y="692727"/>
            <a:ext cx="2556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Цель и задачи практики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F1F62-4583-111D-88E6-5B2977237470}"/>
              </a:ext>
            </a:extLst>
          </p:cNvPr>
          <p:cNvSpPr txBox="1"/>
          <p:nvPr/>
        </p:nvSpPr>
        <p:spPr>
          <a:xfrm>
            <a:off x="581891" y="1676400"/>
            <a:ext cx="649408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Цель: Автоматизация библиотечных процессов (учет, выдача, поиск, отчетность).</a:t>
            </a:r>
          </a:p>
          <a:p>
            <a:pPr algn="l"/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Задачи: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Анализ предметной области и требований.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Проектирование и нормализация БД.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Реализация БД в SQL Server.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Разработка приложения для работы с БД.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Реализация уровней доступа.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Создание запросов и отчетов.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Резервное копирование и восстановление.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FC1C8-19D4-243C-9030-EF07DE0E18E7}"/>
              </a:ext>
            </a:extLst>
          </p:cNvPr>
          <p:cNvSpPr txBox="1"/>
          <p:nvPr/>
        </p:nvSpPr>
        <p:spPr>
          <a:xfrm>
            <a:off x="581890" y="692727"/>
            <a:ext cx="4294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Анализ предметной области и сбор требований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4DD00-06B0-E27A-844B-EF7464B7DB84}"/>
              </a:ext>
            </a:extLst>
          </p:cNvPr>
          <p:cNvSpPr txBox="1"/>
          <p:nvPr/>
        </p:nvSpPr>
        <p:spPr>
          <a:xfrm>
            <a:off x="578427" y="1683328"/>
            <a:ext cx="7987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Область: Библиотека с ролевой моделью (админ, библиотекарь, читатель).</a:t>
            </a:r>
          </a:p>
          <a:p>
            <a:pPr algn="l"/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Ключевые сущности: Users, Authors, Genres, Books, Readers, BookAuthors, BookReviews, BookIssues.</a:t>
            </a:r>
          </a:p>
          <a:p>
            <a:pPr algn="l"/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Функции ролей: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Админ: Управление пользователями, справочниками, резервное копирование, отчеты.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Библиотекарь: Регистрация читателей, выдача/возврат книг, поиск, редактирование.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Читатель: Поиск, просмотр, отзывы, личный кабинет.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209C-3CF4-09C2-BD03-2036596450C7}"/>
              </a:ext>
            </a:extLst>
          </p:cNvPr>
          <p:cNvSpPr txBox="1"/>
          <p:nvPr/>
        </p:nvSpPr>
        <p:spPr>
          <a:xfrm>
            <a:off x="581890" y="692727"/>
            <a:ext cx="4294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Проектирование и нормализация базы данных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6982C-60D5-A23E-B39C-406B9E046045}"/>
              </a:ext>
            </a:extLst>
          </p:cNvPr>
          <p:cNvSpPr txBox="1"/>
          <p:nvPr/>
        </p:nvSpPr>
        <p:spPr>
          <a:xfrm>
            <a:off x="581890" y="1614055"/>
            <a:ext cx="7987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Ключевые требования: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Управление пользователями: Таблица 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Users (Role, Username, Password)</a:t>
            </a:r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Управление книгами: Таблица 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Books (Title, AuthorID, GenreID)</a:t>
            </a:r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Выдача/возврат: Таблица 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BookIssues (IssueID, BookID, ReaderID, Status)</a:t>
            </a:r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ER-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диаграмма</a:t>
            </a:r>
          </a:p>
          <a:p>
            <a:pPr algn="l"/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Нормализация: До 3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NF (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исключение избыточности, целостность данных)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8E5A72-B687-119E-A12A-DA8B72764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7563" y="1823287"/>
            <a:ext cx="2833253" cy="28937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8B7CA-A239-C42E-3D58-090FF511AA96}"/>
              </a:ext>
            </a:extLst>
          </p:cNvPr>
          <p:cNvSpPr txBox="1"/>
          <p:nvPr/>
        </p:nvSpPr>
        <p:spPr>
          <a:xfrm>
            <a:off x="581891" y="692727"/>
            <a:ext cx="335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Реализация базы данных в SQL Server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3AE77-674E-D7DC-52C0-958C67D2B381}"/>
              </a:ext>
            </a:extLst>
          </p:cNvPr>
          <p:cNvSpPr txBox="1"/>
          <p:nvPr/>
        </p:nvSpPr>
        <p:spPr>
          <a:xfrm>
            <a:off x="581891" y="1676400"/>
            <a:ext cx="825258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Выбор СУБД: SQL Server </a:t>
            </a:r>
          </a:p>
          <a:p>
            <a:pPr algn="l"/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Создание таблиц и связей: Кратко о структуре таблиц (ключи, типы данных)</a:t>
            </a:r>
          </a:p>
          <a:p>
            <a:pPr algn="l"/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Разработка приложения (C#, WPF): (Слайд со скриншотами приложения)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Основные функции: Авторизация, Управление книгами/читателями, Выдача/Возврат, Поиск, Отчеты.</a:t>
            </a:r>
          </a:p>
          <a:p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Операционная систем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5BD1A23-1BB4-4035-88D3-030B4D2A8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3184848"/>
            <a:ext cx="2403071" cy="1771961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FE03AC-0099-FFA0-D96C-2EB84D44B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503" y="3139703"/>
            <a:ext cx="2403071" cy="181710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94C6345-B055-D4C3-0D2D-4083E4F09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075" y="3108456"/>
            <a:ext cx="2826894" cy="9398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линия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1709B9E-F5CB-EDE5-7A4F-F4E529119F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003" y="4137660"/>
            <a:ext cx="2807966" cy="765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66EC2-8205-4DE4-B1C0-A00CF1E9D2C7}"/>
              </a:ext>
            </a:extLst>
          </p:cNvPr>
          <p:cNvSpPr txBox="1"/>
          <p:nvPr/>
        </p:nvSpPr>
        <p:spPr>
          <a:xfrm>
            <a:off x="581890" y="692727"/>
            <a:ext cx="4294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Реализация уровней доступа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21B6D-DA18-8F0B-60BE-C327CBEDCCBF}"/>
              </a:ext>
            </a:extLst>
          </p:cNvPr>
          <p:cNvSpPr txBox="1"/>
          <p:nvPr/>
        </p:nvSpPr>
        <p:spPr>
          <a:xfrm>
            <a:off x="578427" y="1683328"/>
            <a:ext cx="79871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Роли пользователей (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Admin, Librarian, Reader).</a:t>
            </a: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Предоставление прав доступа (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SELECT, INSERT, UPDATE, DELETE) 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для каждой роли.</a:t>
            </a: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Триггер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-apple-system"/>
              </a:rPr>
              <a:t>trg_CheckReaderAge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 (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контроль возраста читателей).</a:t>
            </a: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Представление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-apple-system"/>
              </a:rPr>
              <a:t>Library.vw_DatabaseDocumentation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 (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облегчение понимания структуры).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E3E45-5B40-65FA-7C8D-DBAA5DAC83A1}"/>
              </a:ext>
            </a:extLst>
          </p:cNvPr>
          <p:cNvSpPr txBox="1"/>
          <p:nvPr/>
        </p:nvSpPr>
        <p:spPr>
          <a:xfrm>
            <a:off x="581890" y="692727"/>
            <a:ext cx="4294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Создание запросов и отчетов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211F7-C5DF-04FE-28B4-DCB894C71816}"/>
              </a:ext>
            </a:extLst>
          </p:cNvPr>
          <p:cNvSpPr txBox="1"/>
          <p:nvPr/>
        </p:nvSpPr>
        <p:spPr>
          <a:xfrm>
            <a:off x="578427" y="1683328"/>
            <a:ext cx="79871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Примеры SQL-запросов: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Поиск книг по названию/автору.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Выдача книг конкретному читателю.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Список просроченных книг.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Оптимизация запросов (индексы, представления)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DEB99F-C1B1-6757-6A2F-3D1CED3B2F71}"/>
              </a:ext>
            </a:extLst>
          </p:cNvPr>
          <p:cNvSpPr txBox="1"/>
          <p:nvPr/>
        </p:nvSpPr>
        <p:spPr>
          <a:xfrm>
            <a:off x="581890" y="692727"/>
            <a:ext cx="5376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Резервное копирование и восстановление базы данных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D5C561-D8F6-235C-E39F-E29E89472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03" y="1150937"/>
            <a:ext cx="2484438" cy="179859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82FF4C4-71D9-4FC7-029A-6F9FECFB3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107" y="1150937"/>
            <a:ext cx="2140269" cy="179859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5131121-F218-83D6-242F-FB910BDE6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404" y="3412767"/>
            <a:ext cx="2484438" cy="8925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66C0C4-80FB-E4B6-343D-286A454C1315}"/>
              </a:ext>
            </a:extLst>
          </p:cNvPr>
          <p:cNvSpPr txBox="1"/>
          <p:nvPr/>
        </p:nvSpPr>
        <p:spPr>
          <a:xfrm>
            <a:off x="581890" y="692727"/>
            <a:ext cx="4294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Заключение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D569B-8AD0-38DE-00C0-4C2364841731}"/>
              </a:ext>
            </a:extLst>
          </p:cNvPr>
          <p:cNvSpPr txBox="1"/>
          <p:nvPr/>
        </p:nvSpPr>
        <p:spPr>
          <a:xfrm>
            <a:off x="578427" y="1683328"/>
            <a:ext cx="7987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Цели практики достигнуты: разработана база данных для учета книг в библиотеке, отвечающая заданным требованиям.</a:t>
            </a: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Реализованы основные функции, необходимые для управления библиотечным фондом, читателями и выдачей книг.</a:t>
            </a:r>
          </a:p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Дальнейшие направления развития: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Расширение функциональности приложения.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Интеграция с другими системами.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Улучшение интерфейса.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EAE8F3"/>
      </a:lt1>
      <a:dk2>
        <a:srgbClr val="191515"/>
      </a:dk2>
      <a:lt2>
        <a:srgbClr val="EAE8F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Экран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Anton</vt:lpstr>
      <vt:lpstr>Alata</vt:lpstr>
      <vt:lpstr>-apple-system</vt:lpstr>
      <vt:lpstr>DeepSeek-CJK-patch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Danil Belyaev</cp:lastModifiedBy>
  <cp:revision>1</cp:revision>
  <dcterms:modified xsi:type="dcterms:W3CDTF">2025-05-25T19:22:40Z</dcterms:modified>
</cp:coreProperties>
</file>